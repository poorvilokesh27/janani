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7" r:id="rId3"/>
  </p:sldMasterIdLst>
  <p:notesMasterIdLst>
    <p:notesMasterId r:id="rId5"/>
  </p:notesMasterIdLst>
  <p:sldIdLst>
    <p:sldId id="386" r:id="rId4"/>
    <p:sldId id="380" r:id="rId6"/>
    <p:sldId id="387" r:id="rId7"/>
    <p:sldId id="388" r:id="rId8"/>
    <p:sldId id="389" r:id="rId9"/>
    <p:sldId id="397" r:id="rId10"/>
    <p:sldId id="390" r:id="rId11"/>
    <p:sldId id="394" r:id="rId12"/>
    <p:sldId id="398" r:id="rId13"/>
    <p:sldId id="396" r:id="rId14"/>
    <p:sldId id="385" r:id="rId15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DEDF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2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514" y="48"/>
      </p:cViewPr>
      <p:guideLst>
        <p:guide orient="horz" pos="2160"/>
        <p:guide pos="38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1" y="1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9" Type="http://schemas.openxmlformats.org/officeDocument/2006/relationships/theme" Target="../theme/theme1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DDEDF"/>
            </a:gs>
            <a:gs pos="0">
              <a:srgbClr val="FFFF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"/>
          <p:cNvPicPr>
            <a:picLocks noChangeAspect="1" noChangeArrowheads="1"/>
          </p:cNvPicPr>
          <p:nvPr/>
        </p:nvPicPr>
        <p:blipFill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343" y="5621"/>
            <a:ext cx="6934201" cy="10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7"/>
          <p:cNvSpPr txBox="1">
            <a:spLocks noChangeArrowheads="1"/>
          </p:cNvSpPr>
          <p:nvPr/>
        </p:nvSpPr>
        <p:spPr bwMode="auto">
          <a:xfrm>
            <a:off x="2324229" y="2355431"/>
            <a:ext cx="7010400" cy="539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 panose="020B0604020202020204"/>
              </a:rPr>
              <a:t>Project Title</a:t>
            </a:r>
            <a:r>
              <a:rPr kumimoji="0" lang="en-I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 panose="020B0604020202020204"/>
              </a:rPr>
              <a:t>:JANANI</a:t>
            </a: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4230" y="5517004"/>
            <a:ext cx="76068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AI&amp;ML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026" y="1084052"/>
            <a:ext cx="11221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753340" y="3308778"/>
          <a:ext cx="872674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687"/>
                <a:gridCol w="2181687"/>
                <a:gridCol w="2181687"/>
                <a:gridCol w="2181687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Student Name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USN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Section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Group no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Poorvi L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1BY25AI170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AIML-5</a:t>
                      </a:r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IN" sz="4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</a:t>
                      </a:r>
                      <a:r>
                        <a:rPr lang="en-IN" sz="4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  <a:sym typeface="+mn-ea"/>
                        </a:rPr>
                        <a:t> </a:t>
                      </a:r>
                      <a:r>
                        <a:rPr lang="en-IN" sz="60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  <a:sym typeface="+mn-ea"/>
                        </a:rPr>
                        <a:t>4</a:t>
                      </a:r>
                      <a:r>
                        <a:rPr lang="en-IN" sz="60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</a:t>
                      </a:r>
                      <a:r>
                        <a:rPr lang="en-IN" sz="66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</a:t>
                      </a:r>
                      <a:endParaRPr lang="en-IN" sz="66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Sandhya shree</a:t>
                      </a:r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1TD25AI070</a:t>
                      </a:r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AIML-5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v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saakshi BM </a:t>
                      </a:r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1TD25AI072</a:t>
                      </a:r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AIML-5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v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moulya V</a:t>
                      </a:r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1BY25AI142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AIML-5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07940" y="1728943"/>
            <a:ext cx="9042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1BSOP308</a:t>
            </a:r>
            <a:r>
              <a:rPr lang="en-US" sz="2000" b="1" i="1" dirty="0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Societal Project zero phase Presentation </a:t>
            </a:r>
            <a:endParaRPr lang="en-IN" sz="2000" b="1" i="1" dirty="0">
              <a:solidFill>
                <a:srgbClr val="FF000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95127" y="2894720"/>
            <a:ext cx="1963838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Date:</a:t>
            </a:r>
            <a:r>
              <a:rPr lang="en-IN" alt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26.09.26</a:t>
            </a:r>
            <a:endParaRPr lang="en-IN" altLang="en-US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239625" y="19513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12799" y="542519"/>
            <a:ext cx="3260367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en-US" altLang="zh-CN" sz="4000" b="1" dirty="0">
                <a:cs typeface="+mn-ea"/>
                <a:sym typeface="+mn-lt"/>
              </a:rPr>
              <a:t>CONTENTS</a:t>
            </a:r>
            <a:endParaRPr lang="zh-CN" altLang="en-US" sz="4000" b="1" dirty="0">
              <a:cs typeface="+mn-ea"/>
              <a:sym typeface="+mn-lt"/>
            </a:endParaRPr>
          </a:p>
        </p:txBody>
      </p:sp>
      <p:sp>
        <p:nvSpPr>
          <p:cNvPr id="33" name="TextBox 4"/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6342" y="1646973"/>
            <a:ext cx="6356410" cy="382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kumimoji="0" lang="en-US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kumimoji="0" lang="en-US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/ Need for the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dirty="0"/>
              <a:t>Existing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kumimoji="0" lang="en-US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/Objectives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plan/Next step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US" dirty="0"/>
              <a:t>Applications of the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goals mapped with the project 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156684" y="6262215"/>
            <a:ext cx="16979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25" y="274955"/>
            <a:ext cx="11064875" cy="872490"/>
          </a:xfrm>
        </p:spPr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Introduction</a:t>
            </a:r>
            <a:br>
              <a:rPr lang="en-US" altLang="en-US" sz="44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</a:br>
            <a:endParaRPr lang="en-IN" altLang="en-US" sz="44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61315" y="1013460"/>
            <a:ext cx="11572875" cy="4776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/>
              <a:t>Maternal &amp; reproductive healthcare access remains inconsistent for many women in semi-urban/rural India</a:t>
            </a:r>
            <a:r>
              <a:rPr lang="en-IN" altLang="en-US" sz="2000"/>
              <a:t>.</a:t>
            </a: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/>
              <a:t>Nearest hospital, Anganwadi centre, or government scheme is often not clearly known</a:t>
            </a:r>
            <a:r>
              <a:rPr lang="en-IN" altLang="en-US" sz="2000"/>
              <a:t>.</a:t>
            </a: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/>
              <a:t>Vaccination schedules and antenatal routines are tracked informally</a:t>
            </a:r>
            <a:r>
              <a:rPr lang="en-IN" altLang="en-US" sz="2000"/>
              <a:t>.</a:t>
            </a: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/>
              <a:t>Smartphone + SMS penetration offers a low-cost way to close this information gap</a:t>
            </a:r>
            <a:r>
              <a:rPr lang="en-IN" altLang="en-US" sz="2000"/>
              <a:t>.</a:t>
            </a: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/>
              <a:t>JANANI: one companion app from first pregnancy check-up </a:t>
            </a:r>
            <a:r>
              <a:rPr lang="en-US" altLang="en-US" sz="2000"/>
              <a:t>→</a:t>
            </a:r>
            <a:r>
              <a:rPr lang="en-US" altLang="en-GB" sz="2000"/>
              <a:t> delivery </a:t>
            </a:r>
            <a:r>
              <a:rPr lang="en-US" altLang="en-US" sz="2000"/>
              <a:t>→</a:t>
            </a:r>
            <a:r>
              <a:rPr lang="en-US" altLang="en-GB" sz="2000"/>
              <a:t> postpartum </a:t>
            </a:r>
            <a:r>
              <a:rPr lang="en-US" altLang="en-US" sz="2000"/>
              <a:t>→</a:t>
            </a:r>
            <a:r>
              <a:rPr lang="en-US" altLang="en-GB" sz="2000"/>
              <a:t> general reproductive health (menstrual cycle, PCOS/PCOD)</a:t>
            </a:r>
            <a:r>
              <a:rPr lang="en-IN" altLang="en-US" sz="2000"/>
              <a:t>.</a:t>
            </a:r>
            <a:endParaRPr lang="en-US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/>
              <a:t>Deliberately excludes medicine identification/suggestion — clinical decisions stay with doctors</a:t>
            </a:r>
            <a:r>
              <a:rPr lang="en-IN" altLang="en-US" sz="2000"/>
              <a:t>.</a:t>
            </a:r>
            <a:endParaRPr lang="en-I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US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endParaRPr lang="en-US" altLang="en-US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06730" y="1252220"/>
            <a:ext cx="11075670" cy="4766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No single platform to locate nearby hospitals &amp; Anganwadi centres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Missed vaccinations and check-ups due to lack of reminders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Delayed hospital access during obstetric emergencies (final trimester)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Low awareness of government maternal/child welfare schemes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Menstrual health conditions (PCOS/PCOD) lack integrated awareness support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Pregnancy, postpartum and baby-care information is often scattered across different sources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Dependence on informal or unverified sources for health-related information</a:t>
            </a:r>
            <a:r>
              <a:rPr lang="en-IN" altLang="en-US" sz="2000"/>
              <a:t>.</a:t>
            </a:r>
            <a:endParaRPr lang="en-I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8645" y="274955"/>
            <a:ext cx="10993755" cy="1081405"/>
          </a:xfrm>
        </p:spPr>
        <p:txBody>
          <a:bodyPr/>
          <a:lstStyle/>
          <a:p>
            <a:pPr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Background/Need for the Project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GB" sz="18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0375" y="1195705"/>
            <a:ext cx="11546205" cy="534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US" altLang="en-GB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Maternal and reproductive healthcare can become difficult to manage when information about healthcare facilities, schedules and government services is scattered.</a:t>
            </a:r>
            <a:endParaRPr lang="en-US" altLang="en-GB" sz="20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US" altLang="en-GB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JANANI provides:</a:t>
            </a:r>
            <a:endParaRPr lang="en-US" altLang="en-GB" sz="20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US" altLang="en-GB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One integrated mobile platform</a:t>
            </a:r>
            <a:endParaRPr lang="en-US" altLang="en-GB" sz="20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altLang="en-GB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Locator</a:t>
            </a:r>
            <a:endParaRPr lang="en-US" altLang="en-GB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Reminders</a:t>
            </a:r>
            <a:endParaRPr lang="en-US" altLang="en-GB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IN" alt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Pregnancy Tracker</a:t>
            </a:r>
            <a:endParaRPr lang="en-US" altLang="en-GB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IN" alt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Emergency Hospital Access</a:t>
            </a:r>
            <a:endParaRPr lang="en-US" altLang="en-GB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Government Schemes</a:t>
            </a:r>
            <a:endParaRPr lang="en-US" altLang="en-GB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IN" alt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Postpartum &amp; Baby Care</a:t>
            </a:r>
            <a:endParaRPr lang="en-US" altLang="en-GB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GB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Reproductive Health Awareness</a:t>
            </a:r>
            <a:endParaRPr lang="en-US" altLang="en-GB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0375" y="2976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718185" y="1418590"/>
          <a:ext cx="10732770" cy="4415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6385"/>
                <a:gridCol w="5366385"/>
              </a:tblGrid>
              <a:tr h="8496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b="1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IN" altLang="en-GB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>
                          <a:solidFill>
                            <a:schemeClr val="tx1"/>
                          </a:solidFill>
                        </a:rPr>
                        <a:t>Gap identified</a:t>
                      </a:r>
                      <a:endParaRPr lang="en-IN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11887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Mobile app for pregnant women, Nigeria (Babatunde et al., 2024)</a:t>
                      </a:r>
                      <a:r>
                        <a:rPr lang="en-IN" altLang="en-US"/>
                        <a:t>.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Education/monitoring only — no live hospital locator, no govt. scheme linkage</a:t>
                      </a:r>
                      <a:r>
                        <a:rPr lang="en-IN" altLang="en-US"/>
                        <a:t>.</a:t>
                      </a:r>
                      <a:endParaRPr lang="en-IN" altLang="en-US"/>
                    </a:p>
                  </a:txBody>
                  <a:tcPr/>
                </a:tc>
              </a:tr>
              <a:tr h="11887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Menstrual Tracking Apps in India (Nair et al.)</a:t>
                      </a:r>
                      <a:r>
                        <a:rPr lang="en-IN" altLang="en-US"/>
                        <a:t>.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Cycle tracking isolated from pregnancy tracking, hospital locator, schemes</a:t>
                      </a:r>
                      <a:r>
                        <a:rPr lang="en-IN" altLang="en-US"/>
                        <a:t>.</a:t>
                      </a:r>
                      <a:endParaRPr lang="en-IN" altLang="en-US"/>
                    </a:p>
                  </a:txBody>
                  <a:tcPr/>
                </a:tc>
              </a:tr>
              <a:tr h="11887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Sakhi Swastyay</a:t>
                      </a:r>
                      <a:r>
                        <a:rPr lang="en-IN" altLang="en-US"/>
                        <a:t>.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Menstrual/PCOS-focused — no pregnancy tracking, SMS reminders, or postpartum/baby care</a:t>
                      </a:r>
                      <a:r>
                        <a:rPr lang="en-IN" altLang="en-US"/>
                        <a:t>.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150" y="6348095"/>
            <a:ext cx="1917700" cy="3600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60655"/>
            <a:ext cx="10972800" cy="781685"/>
          </a:xfrm>
        </p:spPr>
        <p:txBody>
          <a:bodyPr/>
          <a:lstStyle/>
          <a:p>
            <a:pPr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IN" dirty="0"/>
              <a:t>Objectives/Proposed Idea</a:t>
            </a:r>
            <a:br>
              <a:rPr lang="en-IN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9600" y="1149350"/>
            <a:ext cx="10619105" cy="4765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Sign up/sign in via mobile number + hospital registration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Chatbot-based locator for nearby hospitals &amp; Anganwadi centres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Automated SMS reminders for vaccinations/check-ups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Month-wise pregnancy tracker (food &amp; health routines)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Body-change &amp; allergy monitoring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Government maternal/child scheme information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Live emergency location tracker (activates in final trimester)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Exercise, diet, postpartum &amp; baby-care guidance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Awareness: contraception, menstrual cycle, PCOS/PCOD</a:t>
            </a:r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  <a:endParaRPr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lvl="0" indent="-4572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plan/Next step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15645" y="1221105"/>
            <a:ext cx="10866755" cy="4844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Requirement gathering &amp; study of existing apps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UI/UX design (Figma) — sign-up flow, chatbot, tracker, reminders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Front-end development (Flutter/React Native)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Back-end development (Firebase/MySQL)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Integrate Maps API (locator + emergency tracking) &amp; SMS Gateway API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Chatbot development (facility search by name/photo)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Module-wise testing </a:t>
            </a:r>
            <a:r>
              <a:rPr lang="en-US" altLang="en-US" sz="2000"/>
              <a:t>→</a:t>
            </a:r>
            <a:r>
              <a:rPr lang="en-US" altLang="en-GB" sz="2000"/>
              <a:t> integration testing</a:t>
            </a:r>
            <a:r>
              <a:rPr lang="en-IN" altLang="en-US" sz="2000"/>
              <a:t>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Deployment &amp; user-acceptance evaluation</a:t>
            </a:r>
            <a:r>
              <a:rPr lang="en-IN" altLang="en-US" sz="2000"/>
              <a:t>.</a:t>
            </a:r>
            <a:endParaRPr lang="en-I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the Project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Box 2"/>
          <p:cNvSpPr txBox="1"/>
          <p:nvPr/>
        </p:nvSpPr>
        <p:spPr>
          <a:xfrm>
            <a:off x="609600" y="1500505"/>
            <a:ext cx="10100310" cy="4347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Quick location of nearby hospitals &amp; Anganwadi centres</a:t>
            </a:r>
            <a:r>
              <a:rPr lang="en-IN" altLang="en-US" sz="2000"/>
              <a:t>.</a:t>
            </a:r>
            <a:endParaRPr lang="en-IN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Fewer missed vaccinations/check-ups via SMS reminders</a:t>
            </a:r>
            <a:r>
              <a:rPr lang="en-IN" altLang="en-US" sz="2000"/>
              <a:t>.</a:t>
            </a:r>
            <a:endParaRPr lang="en-IN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Safer, faster emergency hospital access during delivery</a:t>
            </a:r>
            <a:r>
              <a:rPr lang="en-IN" altLang="en-US" sz="2000"/>
              <a:t>.</a:t>
            </a:r>
            <a:endParaRPr lang="en-IN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Greater awareness of government welfare schemes</a:t>
            </a:r>
            <a:r>
              <a:rPr lang="en-IN" altLang="en-US" sz="2000"/>
              <a:t>.</a:t>
            </a:r>
            <a:endParaRPr lang="en-IN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Support for postpartum recovery, baby care, family planning</a:t>
            </a:r>
            <a:r>
              <a:rPr lang="en-IN" altLang="en-US" sz="2000"/>
              <a:t>.</a:t>
            </a:r>
            <a:endParaRPr lang="en-IN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Menstrual health &amp; PCOS/PCOD awareness for women generally</a:t>
            </a:r>
            <a:r>
              <a:rPr lang="en-IN" altLang="en-US" sz="2000"/>
              <a:t>.</a:t>
            </a:r>
            <a:endParaRPr lang="en-I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SDG goals mapped with the project </a:t>
            </a:r>
            <a:endParaRPr lang="en-IN" dirty="0"/>
          </a:p>
        </p:txBody>
      </p:sp>
      <p:sp>
        <p:nvSpPr>
          <p:cNvPr id="3" name="Text Box 2"/>
          <p:cNvSpPr txBox="1"/>
          <p:nvPr/>
        </p:nvSpPr>
        <p:spPr>
          <a:xfrm>
            <a:off x="709930" y="1151890"/>
            <a:ext cx="10454005" cy="4664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SDG 3 — Good Health and Well-being</a:t>
            </a:r>
            <a:endParaRPr lang="en-US" altLang="en-GB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000"/>
              <a:t>JANANI supports maternal healthcare, pregnancy monitoring, emergency hospital access and reproductive-health awareness.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SDG 5 — Gender Equality</a:t>
            </a:r>
            <a:endParaRPr lang="en-US" altLang="en-GB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000"/>
              <a:t>The project focuses on improving access to healthcare information and reproductive-health support for women.</a:t>
            </a: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/>
              <a:t>SDG 10 — Reduced Inequalities</a:t>
            </a:r>
            <a:endParaRPr lang="en-US" altLang="en-GB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2000"/>
              <a:t>The application aims to reduce information and access gaps by connecting users with healthcare facilities, schemes and essential health information.</a:t>
            </a:r>
            <a:endParaRPr lang="en-US" altLang="en-GB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837288" y="2553492"/>
            <a:ext cx="8521316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8000" b="1" dirty="0">
                <a:solidFill>
                  <a:schemeClr val="accent1"/>
                </a:solidFill>
                <a:cs typeface="+mn-ea"/>
                <a:sym typeface="+mn-lt"/>
              </a:rPr>
              <a:t>      Thank You</a:t>
            </a:r>
            <a:endParaRPr lang="zh-CN" altLang="en-US" sz="8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ags/tag1.xml><?xml version="1.0" encoding="utf-8"?>
<p:tagLst xmlns:p="http://schemas.openxmlformats.org/presentationml/2006/main">
  <p:tag name="TABLE_ENDDRAG_ORIGIN_RECT" val="845*347"/>
  <p:tag name="TABLE_ENDDRAG_RECT" val="56*111*845*347"/>
</p:tagLst>
</file>

<file path=ppt/tags/tag2.xml><?xml version="1.0" encoding="utf-8"?>
<p:tagLst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www.freeppt7.com">
  <a:themeElements>
    <a:clrScheme name="自定义 415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59E"/>
      </a:accent1>
      <a:accent2>
        <a:srgbClr val="0B4F73"/>
      </a:accent2>
      <a:accent3>
        <a:srgbClr val="1798BB"/>
      </a:accent3>
      <a:accent4>
        <a:srgbClr val="00759E"/>
      </a:accent4>
      <a:accent5>
        <a:srgbClr val="0B4F73"/>
      </a:accent5>
      <a:accent6>
        <a:srgbClr val="1798BB"/>
      </a:accent6>
      <a:hlink>
        <a:srgbClr val="00759E"/>
      </a:hlink>
      <a:folHlink>
        <a:srgbClr val="BFBFBF"/>
      </a:folHlink>
    </a:clrScheme>
    <a:fontScheme name="50etaf1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ww.jp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0etaf1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4345</Words>
  <Application>WPS Presentation</Application>
  <PresentationFormat>Widescreen</PresentationFormat>
  <Paragraphs>205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Century Gothic</vt:lpstr>
      <vt:lpstr>Arial</vt:lpstr>
      <vt:lpstr>Times New Roman</vt:lpstr>
      <vt:lpstr>Cascadia Code SemiBold</vt:lpstr>
      <vt:lpstr>Bookman Old Style</vt:lpstr>
      <vt:lpstr>Angsana New</vt:lpstr>
      <vt:lpstr>Microsoft Sans Serif</vt:lpstr>
      <vt:lpstr>Arial Unicode MS</vt:lpstr>
      <vt:lpstr>等线</vt:lpstr>
      <vt:lpstr>www.freeppt7.com</vt:lpstr>
      <vt:lpstr>www.jpppt.com</vt:lpstr>
      <vt:lpstr>PowerPoint 演示文稿</vt:lpstr>
      <vt:lpstr>PowerPoint 演示文稿</vt:lpstr>
      <vt:lpstr>Introduction</vt:lpstr>
      <vt:lpstr>Problem Identification</vt:lpstr>
      <vt:lpstr>Background/Need for the Project </vt:lpstr>
      <vt:lpstr>Existing System </vt:lpstr>
      <vt:lpstr>Objectives/Proposed Idea </vt:lpstr>
      <vt:lpstr>Project plan/Next step</vt:lpstr>
      <vt:lpstr>Applications of the Project </vt:lpstr>
      <vt:lpstr>SDG goals mapped with the project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Lakshmi M R</dc:creator>
  <cp:lastModifiedBy>gayat</cp:lastModifiedBy>
  <cp:revision>20</cp:revision>
  <dcterms:created xsi:type="dcterms:W3CDTF">2017-08-18T03:02:00Z</dcterms:created>
  <dcterms:modified xsi:type="dcterms:W3CDTF">2026-09-25T18:14:03Z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29a32c-a53b-47aa-9a3f-2a2bee8160ac_Enabled">
    <vt:lpwstr>true</vt:lpwstr>
  </property>
  <property fmtid="{D5CDD505-2E9C-101B-9397-08002B2CF9AE}" pid="3" name="MSIP_Label_da29a32c-a53b-47aa-9a3f-2a2bee8160ac_SetDate">
    <vt:lpwstr>2023-04-24T16:23:40Z</vt:lpwstr>
  </property>
  <property fmtid="{D5CDD505-2E9C-101B-9397-08002B2CF9AE}" pid="4" name="MSIP_Label_da29a32c-a53b-47aa-9a3f-2a2bee8160ac_Method">
    <vt:lpwstr>Privileged</vt:lpwstr>
  </property>
  <property fmtid="{D5CDD505-2E9C-101B-9397-08002B2CF9AE}" pid="5" name="MSIP_Label_da29a32c-a53b-47aa-9a3f-2a2bee8160ac_Name">
    <vt:lpwstr>Privatelabel</vt:lpwstr>
  </property>
  <property fmtid="{D5CDD505-2E9C-101B-9397-08002B2CF9AE}" pid="6" name="MSIP_Label_da29a32c-a53b-47aa-9a3f-2a2bee8160ac_SiteId">
    <vt:lpwstr>e7f10f6d-29dd-4a13-bcbd-035abd3d041c</vt:lpwstr>
  </property>
  <property fmtid="{D5CDD505-2E9C-101B-9397-08002B2CF9AE}" pid="7" name="MSIP_Label_da29a32c-a53b-47aa-9a3f-2a2bee8160ac_ActionId">
    <vt:lpwstr>9cc36502-e1bf-47ce-b3ba-341f4060ef14</vt:lpwstr>
  </property>
  <property fmtid="{D5CDD505-2E9C-101B-9397-08002B2CF9AE}" pid="8" name="MSIP_Label_da29a32c-a53b-47aa-9a3f-2a2bee8160ac_ContentBits">
    <vt:lpwstr>0</vt:lpwstr>
  </property>
  <property fmtid="{D5CDD505-2E9C-101B-9397-08002B2CF9AE}" pid="9" name="ICV">
    <vt:lpwstr>6C1923061A694E42A0CFFAF052E8E9B0_13</vt:lpwstr>
  </property>
  <property fmtid="{D5CDD505-2E9C-101B-9397-08002B2CF9AE}" pid="10" name="KSOProductBuildVer">
    <vt:lpwstr>2057-12.2.0.23206</vt:lpwstr>
  </property>
</Properties>
</file>